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0.xml" ContentType="application/vnd.openxmlformats-officedocument.presentationml.notesSlide+xml"/>
  <Override PartName="/ppt/ink/ink2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6"/>
  </p:notesMasterIdLst>
  <p:handoutMasterIdLst>
    <p:handoutMasterId r:id="rId27"/>
  </p:handoutMasterIdLst>
  <p:sldIdLst>
    <p:sldId id="410" r:id="rId5"/>
    <p:sldId id="383" r:id="rId6"/>
    <p:sldId id="391" r:id="rId7"/>
    <p:sldId id="413" r:id="rId8"/>
    <p:sldId id="416" r:id="rId9"/>
    <p:sldId id="417" r:id="rId10"/>
    <p:sldId id="424" r:id="rId11"/>
    <p:sldId id="412" r:id="rId12"/>
    <p:sldId id="419" r:id="rId13"/>
    <p:sldId id="403" r:id="rId14"/>
    <p:sldId id="408" r:id="rId15"/>
    <p:sldId id="404" r:id="rId16"/>
    <p:sldId id="420" r:id="rId17"/>
    <p:sldId id="414" r:id="rId18"/>
    <p:sldId id="426" r:id="rId19"/>
    <p:sldId id="421" r:id="rId20"/>
    <p:sldId id="423" r:id="rId21"/>
    <p:sldId id="397" r:id="rId22"/>
    <p:sldId id="422" r:id="rId23"/>
    <p:sldId id="425" r:id="rId24"/>
    <p:sldId id="3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6327" autoAdjust="0"/>
  </p:normalViewPr>
  <p:slideViewPr>
    <p:cSldViewPr snapToGrid="0">
      <p:cViewPr varScale="1">
        <p:scale>
          <a:sx n="89" d="100"/>
          <a:sy n="89" d="100"/>
        </p:scale>
        <p:origin x="21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37:34.4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0 141 24503,'904'-141'0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37:54.9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 24533,'4291'0'0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38:11.1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166 210 24575,'-5'0'0,"-6"-5"0,-2-6 0,2-7 0,-2-4 0,1-4 0,-2 3 0,1 1 0,-2 3 0,2 1 0,3-2 0,-2 3 0,2 9 0,2 10 0,2 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7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1,'86'33,"106"57,-114-51,451 205,-511-235,0 2,0-1,26 22,13 9,16 6,39 24,74 37,-169-98,-6 0,-15-5,2-5,0 1,-1-1,1 0,-1 0,1 0,-1 0,1-1,-1 1,-1-1,-159-48,89 25,55 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1493 199,'-164'-33,"-471"-83,482 94,-284-5,357 28,56-1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1269 786,'58'9,"538"82,5-46,-532-46,-58 0,-54-2,-368-8,38 5,-354 1,-170-3,785 4,109 4,1 0,-1 0,0 0,0 0,0 0,0-1,0 1,0-1,0 0,0 0,0 0,-3-2,11 0,0 1,0-1,0 1,0 0,1 1,-1-1,10-1,460-127,1210-357,-1461 419,-195 59,40-18,-64 23,-9 2,-26 4,-122 25,-863 219,855-202,88-19,69-22,12-2,53-9,194-40,606-137,5-43,-820 212,-54 14,-10 3,-18 8,-1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0,'-5'0,"-2"0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8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4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615 431,'-32'0,"0"-1,0-2,0-1,-43-12,57 10,0 0,0-1,1-1,0 0,0-2,1 0,1 0,-26-23,5-2,1-3,2 0,1-2,3-2,-30-53,48 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8T11:29:02.09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32:27.1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5842 37 24499,'-5842'0'0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33:26.7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 2 24575,'568'0'0,"-562"0"0,-2-1 0,-1 1 0,0 0 0,0 0 0,1 0 0,-1 0 0,0 0 0,1 1 0,-1 0 0,0-1 0,0 1 0,0 1 0,0-1 0,0 0 0,0 1 0,3 1 0,-6-3 0,0 1 0,0-1 0,0 1 0,0-1 0,0 0 0,0 1 0,0-1 0,0 1 0,0-1 0,0 0 0,0 1 0,0-1 0,0 0 0,-1 1 0,1-1 0,0 0 0,0 1 0,0-1 0,-1 0 0,1 1 0,0-1 0,0 0 0,-1 1 0,1-1 0,0 0 0,0 0 0,-1 0 0,1 1 0,0-1 0,-1 0 0,1 0 0,0 0 0,-1 1 0,1-1 0,0 0 0,-1 0 0,1 0 0,-1 0 0,1 0 0,0 0 0,-1 0 0,1 0 0,0 0 0,-2 0 0,-18 4 0,-50 2 0,-118-7 0,72-1 0,-165 2-1365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1:42:53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433 1341 24575,'311'-20'0,"-10"1"0,-30 22 0,198-5 0,-446-1 0,0 0 0,0-1 0,0-1 0,-1 0 0,31-12 0,-30 10 0,1 0 0,1 0 0,-1 2 0,29-4 0,14 5 0,0 2 0,71 5 0,92-4 0,-107-16 0,-91 11 0,0 1 0,36-2 0,59 5 0,-2076 3 0,1910-3 0,0-2 0,1-1 0,-1-2 0,1 0 0,1-2 0,0-1 0,-69-27 0,92 32 0,-9-1 0,0 0 0,0 1 0,-1 1 0,0 1 0,0 0 0,-41 0 0,1 2 0,-84 8 0,129-5 0,0 0 0,-1 1 0,2 1 0,-1 1 0,1-1 0,0 2 0,-19 7 0,32-11 0,0 1 0,0-1 0,1 1 0,-1-1 0,1 1 0,0 0 0,0 0 0,0 1 0,1-1 0,-1 1 0,1-1 0,-3 5 0,5-5 0,0-1 0,0 1 0,0-1 0,0 1 0,1 0 0,0-1 0,0 1 0,0 0 0,0 0 0,0-1 0,1 1 0,-1 0 0,1-1 0,0 1 0,0-1 0,0 1 0,1-1 0,-1 1 0,1-1 0,4 5 0,-3-4 0,1 1 0,1-1 0,-1 0 0,0 0 0,1 0 0,0-1 0,0 1 0,0-1 0,0 0 0,1 0 0,-1 0 0,1 0 0,0-1 0,-1 0 0,1 0 0,8 1 0,107 7 0,-97-9 0,755 1 0,-354-5 0,2032 4 0,-2406-2 0,-1-2 0,91-17 0,-82 12 0,25-7 0,-57 9 0,1 2 0,40-4 0,0 1 0,120-25 0,3-1 0,199-28 0,-170 24 0,-7 13 0,-86 12 0,-54 7 0,125 2 0,-5 0 0,-70-13 0,-91 11 0,0 1 0,35-1 0,-27 4 0,10 1 0,1-2 0,-1-2 0,0-1 0,60-14 0,118-21 0,-157 31 0,110-27 0,-145 29 0,1 1 0,0 2 0,0 0 0,41 0 0,-30 2 0,85-14 0,-62 4 0,316-73 0,-327 71 0,1 1 0,1 3 0,127-11 0,-140 15 0,86-19 0,29-4 0,-68 23 0,0 2 0,121 7 0,87-4 0,-145-16 0,-106 11 0,87-5 0,70 14 0,83-4 0,-170-15 0,-92 11 0,1 1 0,36-2 0,-44 6 0,46-3 0,-66 4 0,-1 0 0,1 0 0,-1 0 0,1 0 0,-1 1 0,1-1 0,-1 1 0,1-1 0,-1 1 0,0 0 0,0 0 0,1 0 0,4 3 0,-8-4 0,0 1 0,0 0 0,0-1 0,0 1 0,0 0 0,-1-1 0,1 1 0,0 0 0,-1-1 0,1 1 0,0 0 0,-1-1 0,1 1 0,-1-1 0,0 1 0,1-1 0,-1 1 0,0-1 0,1 1 0,-1-1 0,0 1 0,1-1 0,-1 0 0,0 1 0,0-1 0,0 0 0,0 1 0,0-1 0,1 0 0,-1 0 0,0 0 0,0 0 0,-2 1 0,-40 11 0,40-11 0,-95 22 0,-118 15 0,-30 6 0,178-31 0,0-2 0,-2-2 0,-87 2 0,-215-8 0,365-3 0,-51 2 0,-1 3 0,1 1 0,-67 14 0,67-11 0,-491 91 0,214-57 0,240-31 0,1 4 0,-172 45 0,23-3 0,-637 166 0,504-119 0,330-93 0,-2-2 0,0-2 0,0-1 0,-74 4 0,341-43 0,96-8 0,-209 23 0,2 4 0,136-4 0,21 17 0,-100 2 0,301-24 0,-354 13 0,1 4 0,126 7 0,122-5 0,-315-2 0,0-2 0,79-18 0,-83 15 0,1 2 0,0 1 0,64-5 0,-21 7 0,0-3 0,-1-2 0,-1-3 0,125-32 0,-130 26 0,0 4 0,2 1 0,139-9 0,82-11 0,-176 20 0,-54 4 0,134-4 0,-76 15 0,-129-1 0,-1 0 0,0 0 0,0 0 0,0 0 0,1 0 0,-1 0 0,0 0 0,0 0 0,0 0 0,1 0 0,-1 0 0,0 0 0,0 0 0,0 0 0,1 0 0,-1 0 0,0 0 0,0 0 0,0 0 0,1 0 0,-1 1 0,0-1 0,0 0 0,0 0 0,0 0 0,1 0 0,-1 0 0,0 0 0,0 0 0,0 1 0,0-1 0,0 0 0,0 0 0,0 0 0,1 0 0,-1 0 0,0 1 0,0-1 0,0 0 0,0 0 0,0 0 0,0 0 0,0 1 0,0-1 0,0 0 0,0 0 0,0 0 0,0 0 0,0 0 0,0 1 0,0-1 0,-1 0 0,1 0 0,0 0 0,0 0 0,0 0 0,0 1 0,0-1 0,0 0 0,0 0 0,-1 0 0,1 0 0,-17 14 0,-28 10 0,-69 13 0,32-12 0,-259 70 0,340-95 0,-36 8 0,0-2 0,-1 0 0,0-2 0,-55 1 0,-161-7 0,98-2 0,41 3 0,-30-2 0,1 5 0,0 4 0,-185 26 0,-116 35 0,-3-15 0,-894 18 0,991-78 0,-626-73 0,829 61 0,39 3 0,-1 5 0,-185-5 0,239 16 0,1-2 0,-1-2 0,1-1 0,-102-23 0,1 1 0,104 21 0,0-2 0,1-2 0,0-1 0,1-2 0,-64-25 0,-209-105 0,146 69 0,170 72 0,0 0 0,0-1 0,0 1 0,0-1 0,1 0 0,-1-1 0,2 1 0,-1-1 0,1 0 0,0 0 0,0 0 0,0-1 0,1 1 0,0-1 0,1 1 0,0-1 0,0 0 0,1 0 0,0 0 0,0 0 0,1-1 0,0 1 0,0 0 0,1 0 0,0-1 0,2-6 0,-1 4 0,1 0 0,0 0 0,1 1 0,1-1 0,0 0 0,0 1 0,1 0 0,1-1 0,0 2 0,0-1 0,1 0 0,0 1 0,1 0 0,0 0 0,1 1 0,-1-1 0,16-7 0,-3 5 0,0 0 0,1 1 0,-1 1 0,2 1 0,0 0 0,0 1 0,0 1 0,0 1 0,33-2 0,29 1 0,108 5 0,-133 1 0,16 2 0,-1 4 0,119 22 0,-61-7 0,67 11 0,-114-17 0,0-3 0,172 10 0,434-23 0,-312-3 0,-356 1 0,0-1 0,0-1 0,0 0 0,-1-1 0,1-1 0,-1-1 0,-1 0 0,1-1 0,39-18 0,14-10 0,93-58 0,-48 26 0,255-137 0,-331 181 0,-29 16 0,1-2 0,-2 0 0,1 0 0,15-13 0,-30 22 0,0-1 0,0 1 0,-1-1 0,1 1 0,0-1 0,0 0 0,0 1 0,-1-1 0,1 0 0,0 0 0,-1 1 0,1-1 0,-1 0 0,1 0 0,-1 0 0,0 0 0,1 1 0,-1-1 0,0 0 0,0 0 0,0 0 0,0 0 0,0 0 0,0 0 0,0 0 0,0 1 0,0-1 0,-1 0 0,1 0 0,0 0 0,-1 0 0,1 1 0,-1-1 0,1 0 0,-1 0 0,0 0 0,1 1 0,-1-1 0,0 0 0,0 1 0,0-1 0,1 1 0,-3-2 0,-4 0 0,1 0 0,-1 0 0,0 0 0,1 0 0,-1 1 0,0 0 0,-10 0 0,-90-7 15,-216 5-1,-121 32-157,27 16-49,2 13 1,-700 170 0,1108-227 191,-84 20 0,3 3 0,0 3 0,-153 64 0,227-84-26,1 0 0,-1 1 0,1 0 0,1 0 0,0 1 0,1 0 0,0 1 0,1 0 0,1 0 0,0 1 0,1 0-1,0 0 1,1 0 0,1 0 0,0 1 0,1 0 0,1 0 0,0 0 0,2 0 0,0 1 0,0-1 0,2 1 0,0-1 0,1 0 0,4 20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16:56:33.0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4915,'0'0'0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D91A-9C3E-6396-436E-BCBF2046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8772CF-846F-D702-A349-6CAA10AD9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93755-B56A-D624-59DF-FEDC59152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65E22-1577-4486-D20A-75F9D9D21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75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EB247-52AB-52E6-4E30-8BE7641D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AFE5E-B569-FCD4-7600-48F6AAD5C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31CF-F01D-463F-8CE6-E9D0B31A0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884D3-49D7-B417-DAA2-CE397E39C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06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5802-3C0D-DC31-E1E5-0A939D8A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782B7-0FD5-2D1D-85B7-A863A6107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E0AFC-3659-577F-B4AE-8D0394B38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4763-BD15-192B-8FE6-641C2068B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246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A8DE-B9EB-D687-25B4-EE2CA429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F4555-83CA-F906-1EF9-BBF5B72BB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BAE91-E2C1-0434-F238-A5629BA94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B4FB9-541D-5650-F42D-CD57AE7F6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560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30787-2EE4-32CF-B82E-EFFA2C71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D5D44-C3E8-EB70-1AEF-B9554444E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759D5-11F4-D13B-5574-01417AB6C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DE0EE-F91E-807D-512C-0063C010A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11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F64C-8168-1583-683D-A36455CD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B3B09-7191-F7CC-14AA-DD668DA1D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A2425-BA19-379B-444E-0834D15E5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1E3EF-574E-30F8-9299-F0FDF7C7B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16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FF05-363F-3C76-CDAA-DB55C76D5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53744-F1D2-80BB-2469-590F0140E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4FA15-7D67-AB09-9074-FB1A0FA19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EBA4D-D1B1-1B68-982C-E9BB03DED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07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1D323-BF62-9135-1D60-90EB6847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131BA-B647-9AAC-BF96-F36E29506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D4814-0821-4D0A-E1F9-9DED55F46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8832B-0C90-FFA3-5A0C-347EE8AA8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82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77878-62B3-2519-B590-F983B6A7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B60FE-C8D8-A32F-99B5-7D24D91FC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74DFF-64F9-53BC-09FB-030AD7300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0CA13-4475-57A5-38EB-0CD8D6428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25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12BDE-8CDC-92BA-2C27-F8D6B890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5027D-019E-4EA3-EFAE-546BF0B3C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43798-EFD6-096F-7189-CBE4F62E6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2F773-5FC3-E02A-4444-E3402688C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38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2128B-5D7B-D00F-1F33-02289C8D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2DEC6-9B96-5C29-12C6-BE9BCF228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B5051-053E-B3F3-E5DC-66D7A3967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38A4E-6255-EA3A-8678-A822335EC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403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10" Type="http://schemas.openxmlformats.org/officeDocument/2006/relationships/image" Target="../media/image60.png"/><Relationship Id="rId4" Type="http://schemas.openxmlformats.org/officeDocument/2006/relationships/image" Target="../media/image10.png"/><Relationship Id="rId9" Type="http://schemas.openxmlformats.org/officeDocument/2006/relationships/customXml" Target="../ink/ink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26" Type="http://schemas.openxmlformats.org/officeDocument/2006/relationships/image" Target="../media/image13.png"/><Relationship Id="rId3" Type="http://schemas.openxmlformats.org/officeDocument/2006/relationships/customXml" Target="../ink/ink4.xml"/><Relationship Id="rId21" Type="http://schemas.openxmlformats.org/officeDocument/2006/relationships/customXml" Target="../ink/ink17.xml"/><Relationship Id="rId7" Type="http://schemas.openxmlformats.org/officeDocument/2006/relationships/customXml" Target="../ink/ink6.xml"/><Relationship Id="rId12" Type="http://schemas.openxmlformats.org/officeDocument/2006/relationships/image" Target="../media/image11.png"/><Relationship Id="rId17" Type="http://schemas.openxmlformats.org/officeDocument/2006/relationships/customXml" Target="../ink/ink13.xml"/><Relationship Id="rId25" Type="http://schemas.openxmlformats.org/officeDocument/2006/relationships/customXml" Target="../ink/ink20.xml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2.xml"/><Relationship Id="rId20" Type="http://schemas.openxmlformats.org/officeDocument/2006/relationships/customXml" Target="../ink/ink16.xml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customXml" Target="../ink/ink8.xml"/><Relationship Id="rId24" Type="http://schemas.openxmlformats.org/officeDocument/2006/relationships/image" Target="../media/image12.png"/><Relationship Id="rId5" Type="http://schemas.openxmlformats.org/officeDocument/2006/relationships/customXml" Target="../ink/ink5.xml"/><Relationship Id="rId15" Type="http://schemas.openxmlformats.org/officeDocument/2006/relationships/customXml" Target="../ink/ink11.xml"/><Relationship Id="rId23" Type="http://schemas.openxmlformats.org/officeDocument/2006/relationships/customXml" Target="../ink/ink19.xml"/><Relationship Id="rId28" Type="http://schemas.openxmlformats.org/officeDocument/2006/relationships/image" Target="../media/image14.png"/><Relationship Id="rId10" Type="http://schemas.openxmlformats.org/officeDocument/2006/relationships/image" Target="../media/image100.png"/><Relationship Id="rId19" Type="http://schemas.openxmlformats.org/officeDocument/2006/relationships/customXml" Target="../ink/ink15.xml"/><Relationship Id="rId4" Type="http://schemas.openxmlformats.org/officeDocument/2006/relationships/image" Target="../media/image70.png"/><Relationship Id="rId9" Type="http://schemas.openxmlformats.org/officeDocument/2006/relationships/customXml" Target="../ink/ink7.xml"/><Relationship Id="rId14" Type="http://schemas.openxmlformats.org/officeDocument/2006/relationships/customXml" Target="../ink/ink10.xml"/><Relationship Id="rId22" Type="http://schemas.openxmlformats.org/officeDocument/2006/relationships/customXml" Target="../ink/ink18.xml"/><Relationship Id="rId27" Type="http://schemas.openxmlformats.org/officeDocument/2006/relationships/customXml" Target="../ink/ink21.xml"/><Relationship Id="rId30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0.png"/><Relationship Id="rId4" Type="http://schemas.openxmlformats.org/officeDocument/2006/relationships/customXml" Target="../ink/ink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10.19321" TargetMode="External"/><Relationship Id="rId3" Type="http://schemas.openxmlformats.org/officeDocument/2006/relationships/image" Target="../media/image31.png"/><Relationship Id="rId7" Type="http://schemas.openxmlformats.org/officeDocument/2006/relationships/hyperlink" Target="https://arxiv.org/abs/1705.0578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rxiv.org/abs/2411.06510" TargetMode="External"/><Relationship Id="rId5" Type="http://schemas.openxmlformats.org/officeDocument/2006/relationships/hyperlink" Target="https://arxiv.org/pdf/2409.19754" TargetMode="External"/><Relationship Id="rId4" Type="http://schemas.openxmlformats.org/officeDocument/2006/relationships/hyperlink" Target="https://arxiv.org/pdf/1707.02131" TargetMode="External"/><Relationship Id="rId9" Type="http://schemas.openxmlformats.org/officeDocument/2006/relationships/hyperlink" Target="https://www.google.com/search?q=https://ieeexplore.ieee.org/document/10820123&amp;authuser=4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10654737" TargetMode="External"/><Relationship Id="rId3" Type="http://schemas.openxmlformats.org/officeDocument/2006/relationships/image" Target="../media/image31.png"/><Relationship Id="rId7" Type="http://schemas.openxmlformats.org/officeDocument/2006/relationships/hyperlink" Target="https://www.internationaljournalssrg.org/IJECE/2025/Volume12-Issue7/IJECE-V12I7P125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ijcaonline.org/archives/volume184/number45/kumar-2023-ijca-922547.pdf" TargetMode="External"/><Relationship Id="rId5" Type="http://schemas.openxmlformats.org/officeDocument/2006/relationships/hyperlink" Target="https://www.researchgate.net/publication/390475418_Offline_Signature_Verification_USING_Siamese_Neural_Network" TargetMode="External"/><Relationship Id="rId4" Type="http://schemas.openxmlformats.org/officeDocument/2006/relationships/hyperlink" Target="https://arxiv.org/pdf/2510.17724" TargetMode="External"/><Relationship Id="rId9" Type="http://schemas.openxmlformats.org/officeDocument/2006/relationships/hyperlink" Target="https://arxiv.org/abs/2401.09467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5565E0-E49F-7789-A0E5-34D7A59A3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31" y="3342073"/>
            <a:ext cx="5943600" cy="21812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5940" y="3149522"/>
            <a:ext cx="7598229" cy="105564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Handwritten Signature Verification System</a:t>
            </a:r>
            <a:endParaRPr lang="en-US" sz="4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7B2CC-913F-43E3-0483-7B059FA8406D}"/>
              </a:ext>
            </a:extLst>
          </p:cNvPr>
          <p:cNvSpPr txBox="1"/>
          <p:nvPr/>
        </p:nvSpPr>
        <p:spPr>
          <a:xfrm>
            <a:off x="4300180" y="1940142"/>
            <a:ext cx="31630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SafeSign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1888"/>
            <a:ext cx="6787747" cy="1405962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&amp; Mentor Details</a:t>
            </a:r>
            <a:br>
              <a:rPr lang="en-IN" dirty="0">
                <a:latin typeface="Franklin Gothic Demi (Headings)"/>
                <a:cs typeface="Times New Roman" panose="02020603050405020304" pitchFamily="18" charset="0"/>
              </a:rPr>
            </a:br>
            <a:endParaRPr lang="en-US" dirty="0">
              <a:latin typeface="Franklin Gothic Demi (Headings)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677927-36B2-53CE-D9EC-14587C4FF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90229"/>
              </p:ext>
            </p:extLst>
          </p:nvPr>
        </p:nvGraphicFramePr>
        <p:xfrm>
          <a:off x="1154922" y="2903030"/>
          <a:ext cx="6440196" cy="1967550"/>
        </p:xfrm>
        <a:graphic>
          <a:graphicData uri="http://schemas.openxmlformats.org/drawingml/2006/table">
            <a:tbl>
              <a:tblPr firstRow="1" lastRow="1" bandRow="1">
                <a:effectLst/>
                <a:tableStyleId>{D7AC3CCA-C797-4891-BE02-D94E43425B78}</a:tableStyleId>
              </a:tblPr>
              <a:tblGrid>
                <a:gridCol w="3220098">
                  <a:extLst>
                    <a:ext uri="{9D8B030D-6E8A-4147-A177-3AD203B41FA5}">
                      <a16:colId xmlns:a16="http://schemas.microsoft.com/office/drawing/2014/main" val="1997109524"/>
                    </a:ext>
                  </a:extLst>
                </a:gridCol>
                <a:gridCol w="3220098">
                  <a:extLst>
                    <a:ext uri="{9D8B030D-6E8A-4147-A177-3AD203B41FA5}">
                      <a16:colId xmlns:a16="http://schemas.microsoft.com/office/drawing/2014/main" val="4226240401"/>
                    </a:ext>
                  </a:extLst>
                </a:gridCol>
              </a:tblGrid>
              <a:tr h="39351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Number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23053"/>
                  </a:ext>
                </a:extLst>
              </a:tr>
              <a:tr h="393510">
                <a:tc>
                  <a:txBody>
                    <a:bodyPr/>
                    <a:lstStyle/>
                    <a:p>
                      <a:r>
                        <a:rPr lang="en-US" dirty="0"/>
                        <a:t>Sumanta Rakshit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2251079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423264"/>
                  </a:ext>
                </a:extLst>
              </a:tr>
              <a:tr h="393510">
                <a:tc>
                  <a:txBody>
                    <a:bodyPr/>
                    <a:lstStyle/>
                    <a:p>
                      <a:r>
                        <a:rPr lang="en-US" dirty="0" err="1"/>
                        <a:t>Sayandeep</a:t>
                      </a:r>
                      <a:r>
                        <a:rPr lang="en-US" dirty="0"/>
                        <a:t> Biswas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2251061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095681"/>
                  </a:ext>
                </a:extLst>
              </a:tr>
              <a:tr h="393510">
                <a:tc>
                  <a:txBody>
                    <a:bodyPr/>
                    <a:lstStyle/>
                    <a:p>
                      <a:r>
                        <a:rPr lang="en-US" dirty="0"/>
                        <a:t>Aaditya Kumar Choudhary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2251078</a:t>
                      </a:r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152808"/>
                  </a:ext>
                </a:extLst>
              </a:tr>
              <a:tr h="393510">
                <a:tc>
                  <a:txBody>
                    <a:bodyPr/>
                    <a:lstStyle/>
                    <a:p>
                      <a:r>
                        <a:rPr lang="en-US" b="0" dirty="0"/>
                        <a:t>Sachin Kumar</a:t>
                      </a:r>
                      <a:endParaRPr lang="en-IN" b="0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2251074</a:t>
                      </a:r>
                      <a:endParaRPr lang="en-IN" b="0" dirty="0"/>
                    </a:p>
                  </a:txBody>
                  <a:tcP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016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C73C375-089E-3E40-C5DA-C79E505DBADC}"/>
              </a:ext>
            </a:extLst>
          </p:cNvPr>
          <p:cNvSpPr txBox="1"/>
          <p:nvPr/>
        </p:nvSpPr>
        <p:spPr>
          <a:xfrm>
            <a:off x="1077285" y="5305760"/>
            <a:ext cx="636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Prof.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Anurina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Tarafdar, Department of CSE 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191C61-5F35-0FCB-8316-C6BF24848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1786990"/>
            <a:ext cx="2819794" cy="49536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94" y="398485"/>
            <a:ext cx="10721651" cy="840102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4650" y="1182653"/>
            <a:ext cx="5912657" cy="15008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Issue: </a:t>
            </a: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(banks) rely heavily on signatures for cheque clearance and document authorization.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AAD4C6B-DED0-6B5F-87F3-90BD0B08F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15" y="3583868"/>
            <a:ext cx="3784318" cy="2257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E1039F-9ED4-EC46-458A-00303F60537B}"/>
              </a:ext>
            </a:extLst>
          </p:cNvPr>
          <p:cNvSpPr txBox="1"/>
          <p:nvPr/>
        </p:nvSpPr>
        <p:spPr>
          <a:xfrm>
            <a:off x="597159" y="2284486"/>
            <a:ext cx="6233318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Challenge: </a:t>
            </a:r>
            <a:r>
              <a:rPr lang="en-IN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</a:t>
            </a:r>
            <a:endParaRPr lang="en-US" sz="1600" b="1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26ACD-B904-79A3-D269-F0C43F1CC15C}"/>
              </a:ext>
            </a:extLst>
          </p:cNvPr>
          <p:cNvSpPr txBox="1"/>
          <p:nvPr/>
        </p:nvSpPr>
        <p:spPr>
          <a:xfrm>
            <a:off x="650310" y="4757147"/>
            <a:ext cx="6559421" cy="91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Need: </a:t>
            </a:r>
            <a:b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automated, high-precision system to verify authenticity in real-time.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098" name="Picture 2" descr="Image of automated signature verification system banking">
            <a:extLst>
              <a:ext uri="{FF2B5EF4-FFF2-40B4-BE49-F238E27FC236}">
                <a16:creationId xmlns:a16="http://schemas.microsoft.com/office/drawing/2014/main" id="{98911672-945C-F2FC-0893-BCBD16B30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877" y="936110"/>
            <a:ext cx="3784318" cy="205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C74DDB-76E5-4B59-A35C-7BB4791C1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97" y="2712627"/>
            <a:ext cx="5915530" cy="2375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Fatigue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ts val="200"/>
              </a:spcBef>
              <a:spcAft>
                <a:spcPts val="20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 tellers verify hundreds of cheques daily.</a:t>
            </a:r>
          </a:p>
          <a:p>
            <a:pPr lvl="1" eaLnBrk="0" fontAlgn="base" hangingPunct="0">
              <a:spcBef>
                <a:spcPts val="200"/>
              </a:spcBef>
              <a:spcAft>
                <a:spcPts val="20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Tiredness leads to natural errors and oversight.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Skilled Forgeries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ts val="200"/>
              </a:spcBef>
              <a:spcAft>
                <a:spcPts val="20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Forgers practice to make the fake signature look perfect.</a:t>
            </a:r>
          </a:p>
          <a:p>
            <a:pPr lvl="1" eaLnBrk="0" fontAlgn="base" hangingPunct="0">
              <a:spcBef>
                <a:spcPts val="200"/>
              </a:spcBef>
              <a:spcAft>
                <a:spcPts val="20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the naked eye, these are indistinguishable from the real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DF3C97-D298-9E61-A311-0AEF096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4" y="1998644"/>
            <a:ext cx="2838846" cy="36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DF5F01-0752-CF2A-D812-8478A216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13" y="1025488"/>
            <a:ext cx="6787747" cy="97315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20CC2-C0BD-4167-55E1-74E6678952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9100" y="1851995"/>
            <a:ext cx="6899715" cy="43991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  <a:r>
              <a:rPr lang="en-US" sz="1400" b="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</a:p>
          <a:p>
            <a:pPr marL="0" indent="0">
              <a:buNone/>
            </a:pPr>
            <a:endParaRPr lang="en-US" sz="12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00"/>
              </a:spcBef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Goal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b="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 web application for real-world deployment.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F7425-D7F5-7900-2BCF-1A8002D1957F}"/>
              </a:ext>
            </a:extLst>
          </p:cNvPr>
          <p:cNvSpPr txBox="1"/>
          <p:nvPr/>
        </p:nvSpPr>
        <p:spPr>
          <a:xfrm>
            <a:off x="1127551" y="2548971"/>
            <a:ext cx="6964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Verification: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end-to-end automated system for verifying the authenticity of handwritten signatures (specifically for high-stakes documents like bank cheques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Learning Approach: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Siamese Neural Networks (SNNs)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enabling the model to learn similarity rather than just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D1D13-C0EA-4851-EDCA-D5609F855947}"/>
              </a:ext>
            </a:extLst>
          </p:cNvPr>
          <p:cNvSpPr txBox="1"/>
          <p:nvPr/>
        </p:nvSpPr>
        <p:spPr>
          <a:xfrm>
            <a:off x="563736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C4402-35A5-0781-7009-B333BD7F6201}"/>
              </a:ext>
            </a:extLst>
          </p:cNvPr>
          <p:cNvSpPr txBox="1"/>
          <p:nvPr/>
        </p:nvSpPr>
        <p:spPr>
          <a:xfrm>
            <a:off x="1127551" y="4485745"/>
            <a:ext cx="7819845" cy="699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offline (static image) signature verification.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high stakes documents (e.g. bank cheques)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76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A89A9-6DD2-ACFA-45A1-FADB73CF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CA9CE1-A23C-942F-169A-1187E0E1E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17" y="1115210"/>
            <a:ext cx="10907383" cy="74134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A7B310-567F-E46D-252C-C158CC2881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1856552"/>
            <a:ext cx="8088996" cy="510304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Handcrafted Features + SVM</a:t>
            </a:r>
          </a:p>
          <a:p>
            <a:pPr marL="0" indent="0">
              <a:buNone/>
            </a:pPr>
            <a:r>
              <a:rPr lang="en-IN" sz="1800" b="1" dirty="0"/>
              <a:t>	</a:t>
            </a:r>
            <a:br>
              <a:rPr lang="en-IN" sz="1800" dirty="0"/>
            </a:br>
            <a:endParaRPr lang="en-IN" sz="1800" dirty="0"/>
          </a:p>
          <a:p>
            <a:pPr marL="0" indent="0">
              <a:buNone/>
            </a:pPr>
            <a:endParaRPr lang="en-IN" sz="19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SigNet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Siamese Convolutional Neural Network</a:t>
            </a:r>
          </a:p>
          <a:p>
            <a:pPr marL="0" indent="0">
              <a:buNone/>
            </a:pPr>
            <a:r>
              <a:rPr lang="en-IN" sz="1800" b="1" dirty="0"/>
              <a:t>	</a:t>
            </a:r>
            <a:br>
              <a:rPr lang="en-IN" sz="1800" dirty="0"/>
            </a:br>
            <a:endParaRPr lang="en-IN" sz="1800" dirty="0"/>
          </a:p>
          <a:p>
            <a:pPr marL="0" indent="0">
              <a:buNone/>
            </a:pPr>
            <a:endParaRPr lang="en-IN" sz="1900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Vision Transformer (</a:t>
            </a:r>
            <a:r>
              <a:rPr lang="en-IN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Verification)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CNNs with Vision Transformers for richer global–local feature learning, but suffers from high computational cost and reduced accuracy on diverse scripts.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/>
              <a:t>	</a:t>
            </a:r>
            <a:r>
              <a:rPr lang="en-IN" sz="1800" dirty="0"/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EAEB17-BDAF-9906-0B5B-BDBF73176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8F3B74C-A6E1-BE65-1C22-003034BFF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57206C2-62A5-EA57-BF58-7F02B090F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9AE0634-9C65-0D8C-BBA1-6A5F4442E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FB10BC-0FB9-D429-13D0-A6DA66B3E24F}"/>
              </a:ext>
            </a:extLst>
          </p:cNvPr>
          <p:cNvSpPr txBox="1"/>
          <p:nvPr/>
        </p:nvSpPr>
        <p:spPr>
          <a:xfrm>
            <a:off x="3369362" y="2520613"/>
            <a:ext cx="694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manually crafted features (edge, texture, shape) classified via SVM.</a:t>
            </a: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feature design limits scalability, performs poorly across diverse datasets, weaker against skilled forgeries.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AE26-1FF3-601A-8604-87CC54060C7B}"/>
              </a:ext>
            </a:extLst>
          </p:cNvPr>
          <p:cNvSpPr txBox="1"/>
          <p:nvPr/>
        </p:nvSpPr>
        <p:spPr>
          <a:xfrm>
            <a:off x="3369362" y="4138781"/>
            <a:ext cx="69494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signature similarity using a Siamese CNN with writer-independent verification.</a:t>
            </a:r>
          </a:p>
          <a:p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large datasets; uses only static images (no dynamic pen-based cues); limited testing on noisy real-world signatures.</a:t>
            </a:r>
          </a:p>
        </p:txBody>
      </p:sp>
    </p:spTree>
    <p:extLst>
      <p:ext uri="{BB962C8B-B14F-4D97-AF65-F5344CB8AC3E}">
        <p14:creationId xmlns:p14="http://schemas.microsoft.com/office/powerpoint/2010/main" val="212321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57EA-C194-2B55-1508-EE9B86C8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F133F-5D98-3DBF-A2B1-586F9417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76346"/>
            <a:ext cx="10873740" cy="16802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Workflow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74EFB8-64C6-0410-A92B-E467ADB6E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0F5E70CA-6ABB-8856-8640-53E65408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37C280A-B786-E4DA-00CE-96378013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FE91469-A1B2-B30E-E33B-AF013C61B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786DE6A-5CB4-D758-3C58-1EAFE5EC4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409" y="2126907"/>
            <a:ext cx="9223293" cy="434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9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A7DF-4185-75DE-A845-61EC40E7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102CA4-0D14-3E27-C884-C5595AB15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4" y="2008280"/>
            <a:ext cx="3505689" cy="20957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B170A89-B7F0-E7F3-4367-55733497A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17" y="176346"/>
            <a:ext cx="10873740" cy="8141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Methodology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4F0270-3608-52FA-5228-05FFE87D4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F6C920-BCD2-F78E-1AFC-A7DC8E1DD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B5972AF-F562-B152-BB9D-C89AD546C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4D1C84F-A33F-8248-E7ED-3D8D44B6C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AC05A719-F587-3910-7EF5-FD6F3D27D0D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65039" y="1131596"/>
            <a:ext cx="8530241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Verification-Based Approach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similarity scoring rather than user classification, enabling a writer-independent system that works for new users without 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Siamese Twin Network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two identical CNN branches to extract comparable feature embeddings from a pair of signature images.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Euclidean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+ Triplet Loss: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Learns discrimination by minimizing distance between anchor–genuine pairs and maximizing distance from forgeries using Triplet Loss.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D6B8B8-9C54-F1DA-2507-45CC4647C74B}"/>
              </a:ext>
            </a:extLst>
          </p:cNvPr>
          <p:cNvSpPr txBox="1"/>
          <p:nvPr/>
        </p:nvSpPr>
        <p:spPr>
          <a:xfrm>
            <a:off x="5953760" y="9916935"/>
            <a:ext cx="663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D4E2089-E1DA-DD05-D546-E502E864B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870" y="4064411"/>
            <a:ext cx="8947244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real-world signature verification pipeline, not just a research model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Multi-Script Support:</a:t>
            </a:r>
            <a:r>
              <a:rPr lang="en-US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Trained on diverse datasets including BHSig260 (Bengali &amp; Hindi).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Writer-Independent &amp; Cross-Dataset: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new users and uses combined dataset.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FE93D-6E40-AD21-8A34-B27BCE835308}"/>
              </a:ext>
            </a:extLst>
          </p:cNvPr>
          <p:cNvSpPr txBox="1"/>
          <p:nvPr/>
        </p:nvSpPr>
        <p:spPr>
          <a:xfrm>
            <a:off x="823905" y="3346724"/>
            <a:ext cx="20329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5180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055E-BBD9-8F50-DE30-3D26D6F3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272971" cy="1593507"/>
          </a:xfrm>
        </p:spPr>
        <p:txBody>
          <a:bodyPr/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88893-680A-6D7F-1748-AAACC8642B3D}"/>
              </a:ext>
            </a:extLst>
          </p:cNvPr>
          <p:cNvSpPr txBox="1"/>
          <p:nvPr/>
        </p:nvSpPr>
        <p:spPr>
          <a:xfrm>
            <a:off x="593724" y="2369976"/>
            <a:ext cx="5685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are using combine dataset of GPDS150 and CEDAR. 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25046E-3475-C7F9-504E-B4EA9072F7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0F342EE-3532-2E55-57B4-E59189CD8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415901"/>
              </p:ext>
            </p:extLst>
          </p:nvPr>
        </p:nvGraphicFramePr>
        <p:xfrm>
          <a:off x="671804" y="3125755"/>
          <a:ext cx="8220270" cy="119431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40090">
                  <a:extLst>
                    <a:ext uri="{9D8B030D-6E8A-4147-A177-3AD203B41FA5}">
                      <a16:colId xmlns:a16="http://schemas.microsoft.com/office/drawing/2014/main" val="2169562710"/>
                    </a:ext>
                  </a:extLst>
                </a:gridCol>
                <a:gridCol w="2740090">
                  <a:extLst>
                    <a:ext uri="{9D8B030D-6E8A-4147-A177-3AD203B41FA5}">
                      <a16:colId xmlns:a16="http://schemas.microsoft.com/office/drawing/2014/main" val="1507768526"/>
                    </a:ext>
                  </a:extLst>
                </a:gridCol>
                <a:gridCol w="2740090">
                  <a:extLst>
                    <a:ext uri="{9D8B030D-6E8A-4147-A177-3AD203B41FA5}">
                      <a16:colId xmlns:a16="http://schemas.microsoft.com/office/drawing/2014/main" val="2851305720"/>
                    </a:ext>
                  </a:extLst>
                </a:gridCol>
              </a:tblGrid>
              <a:tr h="398106"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  <a:endParaRPr lang="en-IN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No. of Users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Samples per user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986124"/>
                  </a:ext>
                </a:extLst>
              </a:tr>
              <a:tr h="398106">
                <a:tc>
                  <a:txBody>
                    <a:bodyPr/>
                    <a:lstStyle/>
                    <a:p>
                      <a:r>
                        <a:rPr lang="en-IN" dirty="0"/>
                        <a:t>GPDS150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 genuine, 16 forged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178017"/>
                  </a:ext>
                </a:extLst>
              </a:tr>
              <a:tr h="398106">
                <a:tc>
                  <a:txBody>
                    <a:bodyPr/>
                    <a:lstStyle/>
                    <a:p>
                      <a:r>
                        <a:rPr lang="en-IN" dirty="0"/>
                        <a:t>CEDAR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 genuine, 24 forged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462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4E77C01-5DBE-7609-E618-5D0112BC6B29}"/>
              </a:ext>
            </a:extLst>
          </p:cNvPr>
          <p:cNvSpPr txBox="1"/>
          <p:nvPr/>
        </p:nvSpPr>
        <p:spPr>
          <a:xfrm>
            <a:off x="593724" y="4536412"/>
            <a:ext cx="208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images: </a:t>
            </a:r>
            <a:r>
              <a:rPr lang="en-IN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7440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9E449-27D9-48B3-938E-2511353DBD56}"/>
              </a:ext>
            </a:extLst>
          </p:cNvPr>
          <p:cNvSpPr txBox="1"/>
          <p:nvPr/>
        </p:nvSpPr>
        <p:spPr>
          <a:xfrm>
            <a:off x="593724" y="4905744"/>
            <a:ext cx="9245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also trained model on each dataset (GPDS150 and CEDAR) separately. We currently have more datasets like BHSig250 - Bengali and Hindi, we will use them for training later. 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66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B5E9-B5EF-13F0-F9EB-102ACE16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59B9B8-2159-CCF8-5A01-CE5EEDA3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572669"/>
            <a:ext cx="10350500" cy="83855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3D3140-887E-7E97-F1DE-04E0DDEB0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78BF0BF-D8A7-1780-6890-8D594E5A7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862AE69-5031-8B9B-8249-A74909F22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0505AD8-589E-2B2C-CBC6-321678BA4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B6872BB-6671-A7BB-B94F-AA7857AB0474}"/>
              </a:ext>
            </a:extLst>
          </p:cNvPr>
          <p:cNvSpPr txBox="1"/>
          <p:nvPr/>
        </p:nvSpPr>
        <p:spPr>
          <a:xfrm>
            <a:off x="484177" y="1673811"/>
            <a:ext cx="3924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analysed: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1C1F09C-E149-0B64-3699-784FE079A6C1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226" y="2755785"/>
            <a:ext cx="8714614" cy="377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529E4F-5CF0-098B-0556-DD4534B2B206}"/>
              </a:ext>
            </a:extLst>
          </p:cNvPr>
          <p:cNvSpPr txBox="1"/>
          <p:nvPr/>
        </p:nvSpPr>
        <p:spPr>
          <a:xfrm>
            <a:off x="3243039" y="2188454"/>
            <a:ext cx="814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Resolution/Aspect Ratio: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optimal resizing strategies.</a:t>
            </a:r>
            <a:endParaRPr lang="en-IN" sz="20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15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C5EC972-3E1D-E4CF-47C1-43A1A9FA5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832" y="568550"/>
            <a:ext cx="7664336" cy="284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950D5-BEEB-146E-DE97-ABEF687D5283}"/>
              </a:ext>
            </a:extLst>
          </p:cNvPr>
          <p:cNvSpPr txBox="1"/>
          <p:nvPr/>
        </p:nvSpPr>
        <p:spPr>
          <a:xfrm>
            <a:off x="199504" y="152032"/>
            <a:ext cx="882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Distribution: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baseline distances between raw pixel pairs to confirm feasibility.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5822B-ABF5-CA42-B117-5375ABA93476}"/>
              </a:ext>
            </a:extLst>
          </p:cNvPr>
          <p:cNvSpPr txBox="1"/>
          <p:nvPr/>
        </p:nvSpPr>
        <p:spPr>
          <a:xfrm>
            <a:off x="518160" y="39319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1B7F1453-07A7-A68F-9A7F-D1C3AD314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04" y="3415788"/>
            <a:ext cx="89119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nk Density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Genuine signatures often have fluid ink flow; forgeries show "hesitation" or uneven density.</a:t>
            </a:r>
          </a:p>
        </p:txBody>
      </p:sp>
      <p:pic>
        <p:nvPicPr>
          <p:cNvPr id="7178" name="Picture 10">
            <a:extLst>
              <a:ext uri="{FF2B5EF4-FFF2-40B4-BE49-F238E27FC236}">
                <a16:creationId xmlns:a16="http://schemas.microsoft.com/office/drawing/2014/main" id="{40C9436E-E10D-180D-306B-DB6488EC0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4" r="1"/>
          <a:stretch>
            <a:fillRect/>
          </a:stretch>
        </p:blipFill>
        <p:spPr bwMode="auto">
          <a:xfrm>
            <a:off x="3480318" y="3748612"/>
            <a:ext cx="4535074" cy="2883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2A0BCC1-37C3-7003-E8CF-45F5D89EE0BA}"/>
                  </a:ext>
                </a:extLst>
              </p14:cNvPr>
              <p14:cNvContentPartPr/>
              <p14:nvPr/>
            </p14:nvContentPartPr>
            <p14:xfrm>
              <a:off x="1259600" y="2123200"/>
              <a:ext cx="325800" cy="51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2A0BCC1-37C3-7003-E8CF-45F5D89EE0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6600" y="2060200"/>
                <a:ext cx="4514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9E373BC-0E64-FB4D-62BA-C5A01A39B2C9}"/>
                  </a:ext>
                </a:extLst>
              </p14:cNvPr>
              <p14:cNvContentPartPr/>
              <p14:nvPr/>
            </p14:nvContentPartPr>
            <p14:xfrm>
              <a:off x="629600" y="2153440"/>
              <a:ext cx="1544760" cy="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9E373BC-0E64-FB4D-62BA-C5A01A39B2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6600" y="2027440"/>
                <a:ext cx="16704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58C67ED-5653-29DA-3BA5-D480EEFF05E6}"/>
                  </a:ext>
                </a:extLst>
              </p14:cNvPr>
              <p14:cNvContentPartPr/>
              <p14:nvPr/>
            </p14:nvContentPartPr>
            <p14:xfrm>
              <a:off x="2246720" y="2119240"/>
              <a:ext cx="60120" cy="75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58C67ED-5653-29DA-3BA5-D480EEFF05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83720" y="2056600"/>
                <a:ext cx="185760" cy="20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5999292-5759-BEFB-E893-BE8F667B5A2E}"/>
              </a:ext>
            </a:extLst>
          </p:cNvPr>
          <p:cNvSpPr txBox="1">
            <a:spLocks/>
          </p:cNvSpPr>
          <p:nvPr/>
        </p:nvSpPr>
        <p:spPr>
          <a:xfrm>
            <a:off x="487679" y="790527"/>
            <a:ext cx="8532327" cy="609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Pipeline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31F1DBB-9ED5-4D84-AD77-0307284C6270}"/>
                  </a:ext>
                </a:extLst>
              </p14:cNvPr>
              <p14:cNvContentPartPr/>
              <p14:nvPr/>
            </p14:nvContentPartPr>
            <p14:xfrm>
              <a:off x="7437200" y="1696240"/>
              <a:ext cx="518400" cy="274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31F1DBB-9ED5-4D84-AD77-0307284C62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3200" y="1588600"/>
                <a:ext cx="62604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6A0FCC-F36D-8870-B241-7501F9E3FEB7}"/>
                  </a:ext>
                </a:extLst>
              </p14:cNvPr>
              <p14:cNvContentPartPr/>
              <p14:nvPr/>
            </p14:nvContentPartPr>
            <p14:xfrm>
              <a:off x="7843280" y="1940320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6A0FCC-F36D-8870-B241-7501F9E3FE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9280" y="183232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A897CA4-5456-1DF7-E0C2-B46858329CEB}"/>
                  </a:ext>
                </a:extLst>
              </p14:cNvPr>
              <p14:cNvContentPartPr/>
              <p14:nvPr/>
            </p14:nvContentPartPr>
            <p14:xfrm>
              <a:off x="7305800" y="1868680"/>
              <a:ext cx="537840" cy="72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A897CA4-5456-1DF7-E0C2-B46858329C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51800" y="1761040"/>
                <a:ext cx="64548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7A6E044-F81F-8A21-097D-495B3AA9CBDF}"/>
                  </a:ext>
                </a:extLst>
              </p14:cNvPr>
              <p14:cNvContentPartPr/>
              <p14:nvPr/>
            </p14:nvContentPartPr>
            <p14:xfrm>
              <a:off x="6634760" y="1546120"/>
              <a:ext cx="1153800" cy="335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7A6E044-F81F-8A21-097D-495B3AA9CB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80760" y="1438120"/>
                <a:ext cx="126144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7BE10FD-F030-C246-FA0A-F9EAE8F728E7}"/>
                  </a:ext>
                </a:extLst>
              </p14:cNvPr>
              <p14:cNvContentPartPr/>
              <p14:nvPr/>
            </p14:nvContentPartPr>
            <p14:xfrm>
              <a:off x="7727720" y="1564480"/>
              <a:ext cx="468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7BE10FD-F030-C246-FA0A-F9EAE8F728E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73720" y="1456480"/>
                <a:ext cx="112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ECF62A5-1230-9422-4D48-934DD4E6468F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ECF62A5-1230-9422-4D48-934DD4E646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9E886D-55CC-2B1F-14E7-404EF34C105B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9E886D-55CC-2B1F-14E7-404EF34C10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7FE05B1-9650-8927-68D2-B9BD751CDA57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7FE05B1-9650-8927-68D2-B9BD751CDA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656D2DB-AAD5-FF1D-F84F-2AC3B36E69BD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656D2DB-AAD5-FF1D-F84F-2AC3B36E69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EE36620-4A17-4114-C5DF-D010263FA8E0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EE36620-4A17-4114-C5DF-D010263FA8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A661CCA-29AC-6C14-7387-642C9EC0E655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A661CCA-29AC-6C14-7387-642C9EC0E6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FB42567-1E01-F580-4BB0-06906442A3F2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FB42567-1E01-F580-4BB0-06906442A3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AD4261-7A0D-180B-D3C7-8D6FE386B652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AD4261-7A0D-180B-D3C7-8D6FE386B6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AA018F4-A960-BDCC-ADD5-D2CBC32E68A2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AA018F4-A960-BDCC-ADD5-D2CBC32E68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B48BA1-A507-12E4-4213-B72B1796B79F}"/>
                  </a:ext>
                </a:extLst>
              </p14:cNvPr>
              <p14:cNvContentPartPr/>
              <p14:nvPr/>
            </p14:nvContentPartPr>
            <p14:xfrm>
              <a:off x="7721240" y="1564480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B48BA1-A507-12E4-4213-B72B1796B7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67600" y="14564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0E81C67-FE13-00AF-064B-047450EB9C72}"/>
                  </a:ext>
                </a:extLst>
              </p14:cNvPr>
              <p14:cNvContentPartPr/>
              <p14:nvPr/>
            </p14:nvContentPartPr>
            <p14:xfrm>
              <a:off x="7500200" y="1409320"/>
              <a:ext cx="221400" cy="155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0E81C67-FE13-00AF-064B-047450EB9C7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46200" y="1301680"/>
                <a:ext cx="3290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85EA706-558C-6110-C3A9-1A360E9AFE09}"/>
                  </a:ext>
                </a:extLst>
              </p14:cNvPr>
              <p14:cNvContentPartPr/>
              <p14:nvPr/>
            </p14:nvContentPartPr>
            <p14:xfrm>
              <a:off x="7498040" y="140212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85EA706-558C-6110-C3A9-1A360E9AFE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44400" y="129448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06DEB57-ECA0-438A-0299-254D5ADD4803}"/>
              </a:ext>
            </a:extLst>
          </p:cNvPr>
          <p:cNvSpPr txBox="1"/>
          <p:nvPr/>
        </p:nvSpPr>
        <p:spPr>
          <a:xfrm>
            <a:off x="760884" y="1472711"/>
            <a:ext cx="10985345" cy="2222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 Conversion: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color to focus purely on stroke patterns.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 (Otsu’s Thresholding):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Separating ink from the paper background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Inversion: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ink to White (255) and background to Black (0) for sparse matrix efficiency.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Resizing:</a:t>
            </a:r>
            <a:r>
              <a:rPr lang="en-US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Preserving aspect ratio with padding to uniform size (224 x 224).</a:t>
            </a:r>
            <a:endParaRPr lang="en-IN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FFC187C9-C21E-E536-6270-A8480BDBE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9" y="4012787"/>
            <a:ext cx="1125855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563CDBC-DABB-714E-1EDF-DE9882998674}"/>
                  </a:ext>
                </a:extLst>
              </p14:cNvPr>
              <p14:cNvContentPartPr/>
              <p14:nvPr/>
            </p14:nvContentPartPr>
            <p14:xfrm>
              <a:off x="619760" y="2173600"/>
              <a:ext cx="2103120" cy="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563CDBC-DABB-714E-1EDF-DE988299867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56760" y="2048320"/>
                <a:ext cx="22287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C1D9358-C603-0E15-5F34-770E3E6A8191}"/>
                  </a:ext>
                </a:extLst>
              </p14:cNvPr>
              <p14:cNvContentPartPr/>
              <p14:nvPr/>
            </p14:nvContentPartPr>
            <p14:xfrm>
              <a:off x="1574480" y="2183680"/>
              <a:ext cx="247320" cy="12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C1D9358-C603-0E15-5F34-770E3E6A819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11480" y="2121040"/>
                <a:ext cx="372960" cy="1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FA4226-7492-C9DC-E6A8-575C9067CB67}"/>
              </a:ext>
            </a:extLst>
          </p:cNvPr>
          <p:cNvSpPr txBox="1"/>
          <p:nvPr/>
        </p:nvSpPr>
        <p:spPr>
          <a:xfrm>
            <a:off x="193040" y="437873"/>
            <a:ext cx="91156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Siamese Neural Networks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6B35A3D-5B0C-5018-EDEF-7D201E25C44A}"/>
                  </a:ext>
                </a:extLst>
              </p14:cNvPr>
              <p14:cNvContentPartPr/>
              <p14:nvPr/>
            </p14:nvContentPartPr>
            <p14:xfrm>
              <a:off x="193040" y="1752172"/>
              <a:ext cx="3983175" cy="484064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6B35A3D-5B0C-5018-EDEF-7D201E25C4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92" y="1689190"/>
                <a:ext cx="4108831" cy="609669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7">
            <a:extLst>
              <a:ext uri="{FF2B5EF4-FFF2-40B4-BE49-F238E27FC236}">
                <a16:creationId xmlns:a16="http://schemas.microsoft.com/office/drawing/2014/main" id="{A1FA4917-3923-1877-63AB-10DEA6BE7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1" y="1690062"/>
            <a:ext cx="565911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Twin 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identical CNNs with shared weights process signature pairs simultaneously.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Backbone models convert images into compact 128-dimensional feature embeddings.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Metric: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calculates Euclidean Distance between embeddings to measure similarity.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Euclidean Decision: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Distance &lt; Threshold - Genuine and If Distance &gt; Threshold - </a:t>
            </a:r>
            <a:r>
              <a:rPr lang="en-IN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Forged.</a:t>
            </a:r>
            <a:endParaRPr lang="en-US" altLang="en-US" sz="1600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FDB1EBC-4792-FB0F-0121-34F64C108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319" y="1258497"/>
            <a:ext cx="6226681" cy="2977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iamese-network">
            <a:extLst>
              <a:ext uri="{FF2B5EF4-FFF2-40B4-BE49-F238E27FC236}">
                <a16:creationId xmlns:a16="http://schemas.microsoft.com/office/drawing/2014/main" id="{981C71C7-0699-5E92-5EEA-EABBE829A0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774" y="4460870"/>
            <a:ext cx="5070345" cy="175877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064481F1-941E-BBB0-099D-13AE7E008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881" y="4725572"/>
            <a:ext cx="6247893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Functions: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Contrastive loss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function 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distance between genuine pairs and increase distance for forged pairs.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Triplet Loss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forgery trio to ensure the genuine is closer to the anchor than the forgery by a set margin.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01372-2F82-9143-7422-4DB6AD88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306FB21-0AD6-DFED-2E41-56134228F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84" y="1945708"/>
            <a:ext cx="3924848" cy="4286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F4D39C-BF39-E1DC-0366-60825966EC73}"/>
              </a:ext>
            </a:extLst>
          </p:cNvPr>
          <p:cNvSpPr txBox="1"/>
          <p:nvPr/>
        </p:nvSpPr>
        <p:spPr>
          <a:xfrm>
            <a:off x="447984" y="597160"/>
            <a:ext cx="5066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(Base CNNs)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FECCD7D-B537-B961-A47B-39A8C1C08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49" y="1576727"/>
            <a:ext cx="10459502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CNN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Design: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from scratch with fewer parameters to minimize computational load.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Inference: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Optimized for low-resource hardware by focusing on primary stroke shapes rather than deep features.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ResNet-18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Feature Extraction: 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</a:t>
            </a:r>
            <a:r>
              <a:rPr lang="en-US" sz="1600" dirty="0" err="1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imagenet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dataset, more robust, has 18 layers.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Forgery Detection: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Learns complex, hierarchical textures to detect the subtle "jitters" found in skilled forgeries.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</a:t>
            </a:r>
            <a:endParaRPr lang="en-US" dirty="0">
              <a:solidFill>
                <a:schemeClr val="bg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 Scaling: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Intelligently balances depth, width and resolution for maximum efficiency.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Precision:</a:t>
            </a:r>
            <a:r>
              <a:rPr lang="en-US" sz="1600" dirty="0">
                <a:solidFill>
                  <a:schemeClr val="bg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Achieves the best accuracy-to-parameter ratio, capturing fine-grained ink details at low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86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01E4-F67B-2A08-FC18-9BD8BB15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EBDF5-CFA8-6758-0C0E-61A68EF5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39" y="465827"/>
            <a:ext cx="1988374" cy="6443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AD2ED6-CDA4-503D-9990-6E1B6B2C2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6E2D4C4-2818-9EBB-0C5E-4BEE4EAB4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BF1E42D-A68F-D63E-DC67-0F74218F2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B1EDC7C-7CB2-DBD6-31EF-831BF74F0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4F4625F-0FE1-E363-2101-70D10DEE275B}"/>
              </a:ext>
            </a:extLst>
          </p:cNvPr>
          <p:cNvSpPr/>
          <p:nvPr/>
        </p:nvSpPr>
        <p:spPr>
          <a:xfrm>
            <a:off x="552091" y="1949569"/>
            <a:ext cx="2225615" cy="4572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11D712-4AB5-2356-F63E-53900553260E}"/>
              </a:ext>
            </a:extLst>
          </p:cNvPr>
          <p:cNvSpPr txBox="1"/>
          <p:nvPr/>
        </p:nvSpPr>
        <p:spPr>
          <a:xfrm>
            <a:off x="968354" y="1129784"/>
            <a:ext cx="1640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Resnet18: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2C4957-3388-AEF3-BB84-62A6B1FA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396" y="1344883"/>
            <a:ext cx="3928032" cy="2159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train ticket with numbers and lines&#10;&#10;AI-generated content may be incorrect.">
            <a:extLst>
              <a:ext uri="{FF2B5EF4-FFF2-40B4-BE49-F238E27FC236}">
                <a16:creationId xmlns:a16="http://schemas.microsoft.com/office/drawing/2014/main" id="{6196144C-8351-FCB2-08EE-BD37C9A4D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620" y="1420037"/>
            <a:ext cx="4387736" cy="2008963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2E2A92A-B10D-47DE-1CEE-2F462C483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9" y="3549748"/>
            <a:ext cx="11835442" cy="2915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3F6EAE-F8AA-B910-0841-302C5368CEB6}"/>
              </a:ext>
            </a:extLst>
          </p:cNvPr>
          <p:cNvSpPr/>
          <p:nvPr/>
        </p:nvSpPr>
        <p:spPr>
          <a:xfrm>
            <a:off x="1482620" y="2971799"/>
            <a:ext cx="4245320" cy="45720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6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BE8D6-B261-B293-AAA2-735BB8A8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84F0A3-D87B-43AB-FAAE-32E4B42B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39" y="465827"/>
            <a:ext cx="1988374" cy="64439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FF3E2B-9641-2DC2-67F5-8723C7ACB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3A79C96-7538-2D6A-35D4-A5F3C38F1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513C533-0EBF-5047-AB86-112486E14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11786D2-A691-F673-4D03-99A79992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4DC0444-7E2E-2E7E-5565-C2CDC008027C}"/>
              </a:ext>
            </a:extLst>
          </p:cNvPr>
          <p:cNvSpPr/>
          <p:nvPr/>
        </p:nvSpPr>
        <p:spPr>
          <a:xfrm>
            <a:off x="552091" y="1949569"/>
            <a:ext cx="2225615" cy="4572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C8B19-0A7B-C118-1A9D-BC6A13F71DB2}"/>
              </a:ext>
            </a:extLst>
          </p:cNvPr>
          <p:cNvSpPr txBox="1"/>
          <p:nvPr/>
        </p:nvSpPr>
        <p:spPr>
          <a:xfrm>
            <a:off x="968354" y="1456791"/>
            <a:ext cx="2318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EfficientNet-B0: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9CD8E-6810-C956-D9C1-501E3A3A090F}"/>
              </a:ext>
            </a:extLst>
          </p:cNvPr>
          <p:cNvSpPr txBox="1"/>
          <p:nvPr/>
        </p:nvSpPr>
        <p:spPr>
          <a:xfrm>
            <a:off x="968354" y="3556587"/>
            <a:ext cx="2318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Custom CNN: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7A729-CC38-E8FE-6412-5332BD2CC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856" y="465827"/>
            <a:ext cx="2756435" cy="4462799"/>
          </a:xfrm>
          <a:prstGeom prst="rect">
            <a:avLst/>
          </a:prstGeom>
        </p:spPr>
      </p:pic>
      <p:pic>
        <p:nvPicPr>
          <p:cNvPr id="8" name="Picture 7" descr="A train set of numbers&#10;&#10;AI-generated content may be incorrect.">
            <a:extLst>
              <a:ext uri="{FF2B5EF4-FFF2-40B4-BE49-F238E27FC236}">
                <a16:creationId xmlns:a16="http://schemas.microsoft.com/office/drawing/2014/main" id="{2540FDDA-9793-D661-B491-B02A15E8F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0145" y="1656846"/>
            <a:ext cx="4344836" cy="1991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C338BE-796B-7503-D3B8-E142627CD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664" y="4022586"/>
            <a:ext cx="3554373" cy="5494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3543D2-BC97-5ED1-C6DE-FA6A88843C67}"/>
              </a:ext>
            </a:extLst>
          </p:cNvPr>
          <p:cNvSpPr txBox="1"/>
          <p:nvPr/>
        </p:nvSpPr>
        <p:spPr>
          <a:xfrm>
            <a:off x="2887156" y="5411303"/>
            <a:ext cx="8542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initially built the model on each datasets, accuracy was coming out to be great but on combined dataset due to high variance accuracy is comparatively low.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01286A-B46C-4861-4E3F-0D5846393F27}"/>
              </a:ext>
            </a:extLst>
          </p:cNvPr>
          <p:cNvSpPr/>
          <p:nvPr/>
        </p:nvSpPr>
        <p:spPr>
          <a:xfrm>
            <a:off x="3096883" y="3217653"/>
            <a:ext cx="4261449" cy="3389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146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0437-7373-EE6D-C7AB-1206D624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19914DF-8FED-22E7-ED12-791BD4F3A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3" y="2049203"/>
            <a:ext cx="3305636" cy="2667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C94CA6-A8D6-CBAE-130E-C6D110F3433C}"/>
              </a:ext>
            </a:extLst>
          </p:cNvPr>
          <p:cNvSpPr txBox="1"/>
          <p:nvPr/>
        </p:nvSpPr>
        <p:spPr>
          <a:xfrm>
            <a:off x="401216" y="592084"/>
            <a:ext cx="64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DCD4A-DCF2-744D-DFD7-FAC87CA269BC}"/>
              </a:ext>
            </a:extLst>
          </p:cNvPr>
          <p:cNvSpPr txBox="1"/>
          <p:nvPr/>
        </p:nvSpPr>
        <p:spPr>
          <a:xfrm>
            <a:off x="1105176" y="1629190"/>
            <a:ext cx="91198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Intra-Class Variability: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Genuine signatures naturally vary due to mood or fatigue, </a:t>
            </a:r>
            <a:r>
              <a:rPr lang="en-US" sz="16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makinghard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model to define a "standard" baseline.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951C4-78FC-5F91-43DC-10C1BB437B23}"/>
              </a:ext>
            </a:extLst>
          </p:cNvPr>
          <p:cNvSpPr txBox="1"/>
          <p:nvPr/>
        </p:nvSpPr>
        <p:spPr>
          <a:xfrm>
            <a:off x="1090983" y="2516887"/>
            <a:ext cx="91056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"Skilled Forgery" Paradox: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Skilled forgeries are visually identical to genuine ones; the model must detect microscopic "hesitations" rather than shape differences.</a:t>
            </a:r>
            <a:endParaRPr lang="en-IN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B536F-18D8-3B73-897E-7545476F6245}"/>
              </a:ext>
            </a:extLst>
          </p:cNvPr>
          <p:cNvSpPr txBox="1"/>
          <p:nvPr/>
        </p:nvSpPr>
        <p:spPr>
          <a:xfrm>
            <a:off x="1090983" y="3309101"/>
            <a:ext cx="9302697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Dynamic Data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an offline system, we lack critical biometric features like pen pressure, stroke velocity, and writing order.</a:t>
            </a:r>
            <a:endParaRPr lang="en-IN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E4ECB6-2FE8-8A3C-BBE6-ED6420F1A8B0}"/>
              </a:ext>
            </a:extLst>
          </p:cNvPr>
          <p:cNvSpPr txBox="1"/>
          <p:nvPr/>
        </p:nvSpPr>
        <p:spPr>
          <a:xfrm>
            <a:off x="1105176" y="4318682"/>
            <a:ext cx="91813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cheques often contain watermarks, stamps, and  lines that can interfere with standard binarization techniques.</a:t>
            </a:r>
          </a:p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345D9-84A3-F3AC-8596-D2F2DE1AF695}"/>
              </a:ext>
            </a:extLst>
          </p:cNvPr>
          <p:cNvSpPr txBox="1"/>
          <p:nvPr/>
        </p:nvSpPr>
        <p:spPr>
          <a:xfrm>
            <a:off x="1105176" y="5095507"/>
            <a:ext cx="94868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Unstable Signatures: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model's "One-Shot" accuracy decreases for users who signature style changes drastically day-to-day.</a:t>
            </a:r>
            <a:endParaRPr lang="en-IN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C3C8B4B-3E6D-50EC-949B-4322998B2B7A}"/>
                  </a:ext>
                </a:extLst>
              </p14:cNvPr>
              <p14:cNvContentPartPr/>
              <p14:nvPr/>
            </p14:nvContentPartPr>
            <p14:xfrm>
              <a:off x="3405688" y="172595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C3C8B4B-3E6D-50EC-949B-4322998B2B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2688" y="166295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439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5967-444B-ED59-C676-40E62B20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11CC45-A7EE-8D24-44F3-68F81507F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00" y="1991298"/>
            <a:ext cx="3248478" cy="36200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312112-77F3-269B-D335-13548504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670560"/>
            <a:ext cx="6658303" cy="65345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Roadmap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DBD3BD6-9EF0-9E1F-2724-120FDE600D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10152" y="1835173"/>
            <a:ext cx="7810500" cy="449353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154CCF-DD76-BE68-BB3D-A7485A682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EB8146B-ACE9-83BD-F8C0-C194B2564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274A0A4-B240-499D-FF5C-6CEF77671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6DA125A-AEC9-802F-B906-38F5FA1ED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6D0759-AD27-9826-BFC2-3E384104E317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Challenges and limitations of the project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06010-C9E0-54D6-D819-2C2FD4B7BF6A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Challenges and limitations of the project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13E24-E849-93C1-5D9A-5AE02291A95A}"/>
              </a:ext>
            </a:extLst>
          </p:cNvPr>
          <p:cNvSpPr txBox="1"/>
          <p:nvPr/>
        </p:nvSpPr>
        <p:spPr>
          <a:xfrm>
            <a:off x="1708457" y="1527396"/>
            <a:ext cx="72729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Accuracy and Generalization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different model settings to get better accuracy.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better training methods to reduce mistakes.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Integration and Deployment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the model to a working web app for real users.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system fast, secure, and easy to use.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Expansion and Linguistic Diversity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more signature datasets for better training.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Bengali and Hindi signatures to support more languages.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EC2D1F-BE70-B8CD-CC4E-ADA17A764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898" y="1508338"/>
            <a:ext cx="2734195" cy="17359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5EB5F-F4FA-6A2A-8051-4BFCB7834D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332" y="3818328"/>
            <a:ext cx="26003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91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1671" y="2898474"/>
            <a:ext cx="6767104" cy="84383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>
            <a:normAutofit/>
          </a:bodyPr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123A0B-DA08-6BE5-D09F-FF357575D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04" y="3656134"/>
            <a:ext cx="383247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7F93-9FED-D6F5-92F1-B956FC4D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E48DE-88A7-0B85-1C11-BF766D38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31" y="1966859"/>
            <a:ext cx="4067743" cy="390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DD831B-D9E6-BAB0-9725-620569F301D2}"/>
              </a:ext>
            </a:extLst>
          </p:cNvPr>
          <p:cNvSpPr txBox="1"/>
          <p:nvPr/>
        </p:nvSpPr>
        <p:spPr>
          <a:xfrm>
            <a:off x="429208" y="559837"/>
            <a:ext cx="2803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C883B-AD58-7868-F34C-1317D8DF49F0}"/>
              </a:ext>
            </a:extLst>
          </p:cNvPr>
          <p:cNvSpPr txBox="1"/>
          <p:nvPr/>
        </p:nvSpPr>
        <p:spPr>
          <a:xfrm>
            <a:off x="1567132" y="1751163"/>
            <a:ext cx="90577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Dey, S., Dutta, A., Toledo, J. I., Ghosh, S. K.,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Lladós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&amp; Pal, U. (2017).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Convolutional Siamese Network for Writer Independent Offline Signature Verification.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arXiv:1707.02131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https://arxiv.org/pdf/1707.02131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Zhang, H., Guo, J., Li, K., Zhang, Y., &amp; Zhao, Y. (2024). Offline Signature Verification Based on Feature Disentangling Aided Variational Autoencoder.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arXiv:2409.19754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https://arxiv.org/pdf/2409.19754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de Moura, K. G., Cruz, R. M. O., &amp; Sabourin, R. (2024). Offline Handwritten Signature Verification Using a Stream-Based Approach.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arXiv:2411.06510</a:t>
            </a:r>
            <a:r>
              <a:rPr lang="en-IN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https://arxiv.org/abs/2411.06510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Hafemann, L. G., Sabourin, R., &amp; Oliveira, L. S. (2017). Learning features for offline handwritten signature verification using deep convolutional neural networks.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70, 163-176.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https://arxiv.org/abs/1705.05787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Yuan, H. J., Zhang, H., &amp; Yin, F. (2025). Online Handwritten Signature Verification Based on Temporal-Spatial Graph Attention Transformer.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arXiv:2510.19321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https://arxiv.org/abs/2510.19321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Piccinini, G., Guarnera, L., &amp; Battiato, S. (2025).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SignForensics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Robust Framework for Forensic Offline Signature Verification With Enhanced Detection, Noise Removal, and Multi-Stage Authentication.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13, 172456-172470.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https://ieeexplore.ieee.org/document/10820123</a:t>
            </a:r>
            <a:endParaRPr lang="en-IN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4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9BAD5-584E-2B1C-6409-48877F43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997971-013F-C7F9-18B6-709196251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31" y="1966859"/>
            <a:ext cx="4067743" cy="390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A1BD22-CC75-8E13-2C3E-C0FF16E14A11}"/>
              </a:ext>
            </a:extLst>
          </p:cNvPr>
          <p:cNvSpPr txBox="1"/>
          <p:nvPr/>
        </p:nvSpPr>
        <p:spPr>
          <a:xfrm>
            <a:off x="429208" y="559837"/>
            <a:ext cx="2803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9BED7-6B59-9AEC-2F2A-45A5E5C95D2B}"/>
              </a:ext>
            </a:extLst>
          </p:cNvPr>
          <p:cNvSpPr txBox="1"/>
          <p:nvPr/>
        </p:nvSpPr>
        <p:spPr>
          <a:xfrm>
            <a:off x="1567132" y="1496849"/>
            <a:ext cx="90577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Parracho, M. R. (2025). Signature Forgery Detection: Improving Cross-Dataset Generalization.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arXiv:2510.17724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https://arxiv.org/pdf/2510.17724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Kadam, J.,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Phadtare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G., Pawar, A., &amp;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Maniyar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K. G. (2025). Offline Signature Verification USING Siamese Neural Network.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Information Systems Engineering and Management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10(26s), 431-439.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https://www.researchgate.net/publication/390475418_Offline_Signature_Verification_USING_Siamese_Neural_Network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Kumar, D. S. S. (2023). Offline Signature Verification based on Ensemble of Features using Support Vector Machine.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184(45), 24-29.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https://www.ijcaonline.org/archives/volume184/number45/kumar-2023-ijca-922547.pdf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Chetry, B. P., &amp; Kar, B. (2025). Offline Signature Verification Using Pre-Trained Deep Convolution Neural Network: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SqueezeNet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SSRG International Journal of Electronics and Communication Engineering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12(7), 315-326.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https://www.internationaljournalssrg.org/IJECE/2025/Volume12-Issue7/IJECE-V12I7P125.pdf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Ishfaq, M., et al. (2024). Enhancing Security: Infused Hybrid Vision Transformer for Signature Verification. 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Computing and Networking Technologies (ICCCNT)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IEEE.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https://ieeexplore.ieee.org/document/10654737</a:t>
            </a:r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Ozyurt, F., </a:t>
            </a:r>
            <a:r>
              <a:rPr lang="en-I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Majidpour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J., Rashid, T. A., &amp; Koc, C. (2024). Offline Handwriting Signature Verification: A Transfer Learning and Feature Selection Approach. </a:t>
            </a:r>
            <a:r>
              <a:rPr lang="en-IN" sz="14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arXiv:2401.09467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https://arxiv.org/abs/2401.09467</a:t>
            </a:r>
            <a:endParaRPr lang="en-IN" sz="1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271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3337" y="2881171"/>
            <a:ext cx="4133462" cy="8686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A6A51-79A4-C55C-62EA-9ED5713F0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18671"/>
            <a:ext cx="487748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1381</TotalTime>
  <Words>1795</Words>
  <Application>Microsoft Office PowerPoint</Application>
  <PresentationFormat>Widescreen</PresentationFormat>
  <Paragraphs>189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Franklin Gothic Book</vt:lpstr>
      <vt:lpstr>Franklin Gothic Demi</vt:lpstr>
      <vt:lpstr>Franklin Gothic Demi (Headings)</vt:lpstr>
      <vt:lpstr>Times New Roman</vt:lpstr>
      <vt:lpstr>Wingdings</vt:lpstr>
      <vt:lpstr>Custom</vt:lpstr>
      <vt:lpstr>End-to-End Handwritten Signature Verification System</vt:lpstr>
      <vt:lpstr>Team &amp; Mentor Details </vt:lpstr>
      <vt:lpstr>Problem Statement</vt:lpstr>
      <vt:lpstr>Objectives &amp; Scope </vt:lpstr>
      <vt:lpstr>Existing Works</vt:lpstr>
      <vt:lpstr>Our Workflow </vt:lpstr>
      <vt:lpstr>Our Methodology </vt:lpstr>
      <vt:lpstr>Dataset Description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Results</vt:lpstr>
      <vt:lpstr>Results</vt:lpstr>
      <vt:lpstr>PowerPoint Presentation</vt:lpstr>
      <vt:lpstr>Future Scope &amp; Roadmap</vt:lpstr>
      <vt:lpstr>Conclusion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SUMANTA RAKSHIT</dc:creator>
  <cp:lastModifiedBy>Sachin K</cp:lastModifiedBy>
  <cp:revision>13</cp:revision>
  <dcterms:created xsi:type="dcterms:W3CDTF">2025-12-08T04:49:45Z</dcterms:created>
  <dcterms:modified xsi:type="dcterms:W3CDTF">2025-12-10T05:17:39Z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